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9b83edc5b_0_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9b83edc5b_0_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9b83edc5b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9b83edc5b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99b83edc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99b83edc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9b83edc5b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9b83edc5b_0_4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99f49eaf4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99f49eaf4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9f49eaf4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99f49eaf4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9f49eaf47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9f49eaf47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2063250" y="1782300"/>
            <a:ext cx="5017500" cy="1578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GROUP 2</a:t>
            </a:r>
            <a:endParaRPr>
              <a:latin typeface="Times New Roman"/>
              <a:ea typeface="Times New Roman"/>
              <a:cs typeface="Times New Roman"/>
              <a:sym typeface="Times New Roman"/>
            </a:endParaRPr>
          </a:p>
        </p:txBody>
      </p:sp>
      <p:sp>
        <p:nvSpPr>
          <p:cNvPr id="135" name="Google Shape;135;p13"/>
          <p:cNvSpPr txBox="1"/>
          <p:nvPr>
            <p:ph idx="1" type="subTitle"/>
          </p:nvPr>
        </p:nvSpPr>
        <p:spPr>
          <a:xfrm>
            <a:off x="2836650" y="2521075"/>
            <a:ext cx="3470700" cy="506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600"/>
              <a:t>HOUSE PROFIT TRACKER SYSTEM</a:t>
            </a:r>
            <a:endParaRPr b="1" sz="1600"/>
          </a:p>
        </p:txBody>
      </p:sp>
      <p:sp>
        <p:nvSpPr>
          <p:cNvPr id="136" name="Google Shape;136;p13"/>
          <p:cNvSpPr txBox="1"/>
          <p:nvPr/>
        </p:nvSpPr>
        <p:spPr>
          <a:xfrm>
            <a:off x="1639200" y="2824275"/>
            <a:ext cx="58656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l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052550" y="12990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Introduction</a:t>
            </a:r>
            <a:endParaRPr b="1"/>
          </a:p>
        </p:txBody>
      </p:sp>
      <p:sp>
        <p:nvSpPr>
          <p:cNvPr id="142" name="Google Shape;142;p14"/>
          <p:cNvSpPr txBox="1"/>
          <p:nvPr>
            <p:ph idx="1" type="body"/>
          </p:nvPr>
        </p:nvSpPr>
        <p:spPr>
          <a:xfrm>
            <a:off x="1297500" y="1554875"/>
            <a:ext cx="7038900" cy="2911200"/>
          </a:xfrm>
          <a:prstGeom prst="rect">
            <a:avLst/>
          </a:prstGeom>
        </p:spPr>
        <p:txBody>
          <a:bodyPr anchorCtr="0" anchor="t" bIns="91425" lIns="91425" spcFirstLastPara="1" rIns="91425" wrap="square" tIns="91425">
            <a:normAutofit fontScale="70000" lnSpcReduction="20000"/>
          </a:bodyPr>
          <a:lstStyle/>
          <a:p>
            <a:pPr indent="0" lvl="0" marL="457200" marR="28575" rtl="0" algn="just">
              <a:lnSpc>
                <a:spcPct val="115000"/>
              </a:lnSpc>
              <a:spcBef>
                <a:spcPts val="0"/>
              </a:spcBef>
              <a:spcAft>
                <a:spcPts val="0"/>
              </a:spcAft>
              <a:buNone/>
            </a:pPr>
            <a:r>
              <a:rPr lang="en" sz="2995">
                <a:solidFill>
                  <a:srgbClr val="FFFFFF"/>
                </a:solidFill>
                <a:latin typeface="Times New Roman"/>
                <a:ea typeface="Times New Roman"/>
                <a:cs typeface="Times New Roman"/>
                <a:sym typeface="Times New Roman"/>
              </a:rPr>
              <a:t>Technology helps people and businesses track finances more easily, but many real estate sellers still use manual records, which can lead to errors and lost information. The House Profit Tracker System offers a simple digital way to record house sales and expenses, making financial tracking easier, faster, and more organized even for users with limited computer skills.</a:t>
            </a:r>
            <a:endParaRPr sz="3495">
              <a:solidFill>
                <a:srgbClr val="FFFFFF"/>
              </a:solidFill>
              <a:latin typeface="Times New Roman"/>
              <a:ea typeface="Times New Roman"/>
              <a:cs typeface="Times New Roman"/>
              <a:sym typeface="Times New Roman"/>
            </a:endParaRPr>
          </a:p>
          <a:p>
            <a:pPr indent="0" lvl="0" marL="0" rtl="0" algn="l">
              <a:spcBef>
                <a:spcPts val="1200"/>
              </a:spcBef>
              <a:spcAft>
                <a:spcPts val="0"/>
              </a:spcAft>
              <a:buNone/>
            </a:pPr>
            <a:r>
              <a:t/>
            </a:r>
            <a:endParaRPr sz="1500">
              <a:solidFill>
                <a:srgbClr val="FFFFFF"/>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818750" y="328825"/>
            <a:ext cx="7038900" cy="914100"/>
          </a:xfrm>
          <a:prstGeom prst="rect">
            <a:avLst/>
          </a:prstGeom>
        </p:spPr>
        <p:txBody>
          <a:bodyPr anchorCtr="0" anchor="t" bIns="91425" lIns="91425" spcFirstLastPara="1" rIns="91425" wrap="square" tIns="91425">
            <a:normAutofit/>
          </a:bodyPr>
          <a:lstStyle/>
          <a:p>
            <a:pPr indent="0" lvl="0" marL="228600" marR="28575" rtl="0" algn="l">
              <a:lnSpc>
                <a:spcPct val="194583"/>
              </a:lnSpc>
              <a:spcBef>
                <a:spcPts val="0"/>
              </a:spcBef>
              <a:spcAft>
                <a:spcPts val="0"/>
              </a:spcAft>
              <a:buNone/>
            </a:pPr>
            <a:r>
              <a:rPr b="1" lang="en" sz="2200">
                <a:solidFill>
                  <a:srgbClr val="FFFFFF"/>
                </a:solidFill>
                <a:latin typeface="Times New Roman"/>
                <a:ea typeface="Times New Roman"/>
                <a:cs typeface="Times New Roman"/>
                <a:sym typeface="Times New Roman"/>
              </a:rPr>
              <a:t>Statement of the problem</a:t>
            </a:r>
            <a:endParaRPr b="1" sz="3400">
              <a:solidFill>
                <a:srgbClr val="FFFFFF"/>
              </a:solidFill>
              <a:latin typeface="Times New Roman"/>
              <a:ea typeface="Times New Roman"/>
              <a:cs typeface="Times New Roman"/>
              <a:sym typeface="Times New Roman"/>
            </a:endParaRPr>
          </a:p>
        </p:txBody>
      </p:sp>
      <p:sp>
        <p:nvSpPr>
          <p:cNvPr id="148" name="Google Shape;148;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just">
              <a:spcBef>
                <a:spcPts val="0"/>
              </a:spcBef>
              <a:spcAft>
                <a:spcPts val="1200"/>
              </a:spcAft>
              <a:buNone/>
            </a:pPr>
            <a:r>
              <a:rPr lang="en" sz="2100"/>
              <a:t>Many house selling business owners struggle to organize their financial records because they still rely on notebooks or paper, which can lead to lost information and wrong calculations. </a:t>
            </a:r>
            <a:endParaRPr sz="26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Times New Roman"/>
                <a:ea typeface="Times New Roman"/>
                <a:cs typeface="Times New Roman"/>
                <a:sym typeface="Times New Roman"/>
              </a:rPr>
              <a:t>Objectives of the Study</a:t>
            </a:r>
            <a:endParaRPr b="1">
              <a:latin typeface="Times New Roman"/>
              <a:ea typeface="Times New Roman"/>
              <a:cs typeface="Times New Roman"/>
              <a:sym typeface="Times New Roman"/>
            </a:endParaRPr>
          </a:p>
        </p:txBody>
      </p:sp>
      <p:sp>
        <p:nvSpPr>
          <p:cNvPr id="154" name="Google Shape;154;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55600" lvl="0" marL="457200" marR="38100" rtl="0" algn="just">
              <a:spcBef>
                <a:spcPts val="0"/>
              </a:spcBef>
              <a:spcAft>
                <a:spcPts val="0"/>
              </a:spcAft>
              <a:buClr>
                <a:srgbClr val="FFFFFF"/>
              </a:buClr>
              <a:buSzPts val="2000"/>
              <a:buFont typeface="Times New Roman"/>
              <a:buChar char="●"/>
            </a:pPr>
            <a:r>
              <a:rPr lang="en" sz="2000">
                <a:solidFill>
                  <a:srgbClr val="FFFFFF"/>
                </a:solidFill>
                <a:latin typeface="Times New Roman"/>
                <a:ea typeface="Times New Roman"/>
                <a:cs typeface="Times New Roman"/>
                <a:sym typeface="Times New Roman"/>
              </a:rPr>
              <a:t>To create a system that records house sales and business expenses in an organized way.</a:t>
            </a:r>
            <a:endParaRPr sz="2000">
              <a:solidFill>
                <a:srgbClr val="FFFFFF"/>
              </a:solidFill>
              <a:latin typeface="Times New Roman"/>
              <a:ea typeface="Times New Roman"/>
              <a:cs typeface="Times New Roman"/>
              <a:sym typeface="Times New Roman"/>
            </a:endParaRPr>
          </a:p>
          <a:p>
            <a:pPr indent="-355600" lvl="0" marL="457200" marR="38100" rtl="0" algn="just">
              <a:spcBef>
                <a:spcPts val="0"/>
              </a:spcBef>
              <a:spcAft>
                <a:spcPts val="0"/>
              </a:spcAft>
              <a:buClr>
                <a:srgbClr val="FFFFFF"/>
              </a:buClr>
              <a:buSzPts val="2000"/>
              <a:buFont typeface="Times New Roman"/>
              <a:buChar char="●"/>
            </a:pPr>
            <a:r>
              <a:rPr lang="en" sz="2000">
                <a:solidFill>
                  <a:srgbClr val="FFFFFF"/>
                </a:solidFill>
                <a:latin typeface="Times New Roman"/>
                <a:ea typeface="Times New Roman"/>
                <a:cs typeface="Times New Roman"/>
                <a:sym typeface="Times New Roman"/>
              </a:rPr>
              <a:t>To provide an automated computation of total sales, total expenses and net profit.</a:t>
            </a:r>
            <a:endParaRPr sz="2000">
              <a:solidFill>
                <a:srgbClr val="FFFFFF"/>
              </a:solidFill>
              <a:latin typeface="Times New Roman"/>
              <a:ea typeface="Times New Roman"/>
              <a:cs typeface="Times New Roman"/>
              <a:sym typeface="Times New Roman"/>
            </a:endParaRPr>
          </a:p>
          <a:p>
            <a:pPr indent="-355600" lvl="0" marL="457200" marR="38100" rtl="0" algn="just">
              <a:spcBef>
                <a:spcPts val="0"/>
              </a:spcBef>
              <a:spcAft>
                <a:spcPts val="0"/>
              </a:spcAft>
              <a:buClr>
                <a:srgbClr val="FFFFFF"/>
              </a:buClr>
              <a:buSzPts val="2000"/>
              <a:buFont typeface="Times New Roman"/>
              <a:buChar char="●"/>
            </a:pPr>
            <a:r>
              <a:rPr lang="en" sz="2000">
                <a:solidFill>
                  <a:srgbClr val="FFFFFF"/>
                </a:solidFill>
                <a:latin typeface="Times New Roman"/>
                <a:ea typeface="Times New Roman"/>
                <a:cs typeface="Times New Roman"/>
                <a:sym typeface="Times New Roman"/>
              </a:rPr>
              <a:t>To generate a simple summary report that helps users clearly understand the records.</a:t>
            </a:r>
            <a:endParaRPr sz="2000">
              <a:solidFill>
                <a:srgbClr val="FFFFFF"/>
              </a:solidFill>
              <a:latin typeface="Times New Roman"/>
              <a:ea typeface="Times New Roman"/>
              <a:cs typeface="Times New Roman"/>
              <a:sym typeface="Times New Roman"/>
            </a:endParaRPr>
          </a:p>
          <a:p>
            <a:pPr indent="0" lvl="0" marL="0" rtl="0" algn="l">
              <a:spcBef>
                <a:spcPts val="7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Times New Roman"/>
                <a:ea typeface="Times New Roman"/>
                <a:cs typeface="Times New Roman"/>
                <a:sym typeface="Times New Roman"/>
              </a:rPr>
              <a:t>Scope and Limitation</a:t>
            </a:r>
            <a:endParaRPr b="1">
              <a:latin typeface="Times New Roman"/>
              <a:ea typeface="Times New Roman"/>
              <a:cs typeface="Times New Roman"/>
              <a:sym typeface="Times New Roman"/>
            </a:endParaRPr>
          </a:p>
        </p:txBody>
      </p:sp>
      <p:sp>
        <p:nvSpPr>
          <p:cNvPr id="160" name="Google Shape;160;p17"/>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latin typeface="Times New Roman"/>
                <a:ea typeface="Times New Roman"/>
                <a:cs typeface="Times New Roman"/>
                <a:sym typeface="Times New Roman"/>
              </a:rPr>
              <a:t>SCOPE</a:t>
            </a:r>
            <a:endParaRPr>
              <a:latin typeface="Times New Roman"/>
              <a:ea typeface="Times New Roman"/>
              <a:cs typeface="Times New Roman"/>
              <a:sym typeface="Times New Roman"/>
            </a:endParaRPr>
          </a:p>
          <a:p>
            <a:pPr indent="-317500" lvl="0" marL="457200" rtl="0" algn="just">
              <a:spcBef>
                <a:spcPts val="1200"/>
              </a:spcBef>
              <a:spcAft>
                <a:spcPts val="0"/>
              </a:spcAft>
              <a:buClr>
                <a:srgbClr val="FFFFFF"/>
              </a:buClr>
              <a:buSzPts val="1400"/>
              <a:buFont typeface="Times New Roman"/>
              <a:buChar char="●"/>
            </a:pPr>
            <a:r>
              <a:rPr lang="en" sz="1400">
                <a:solidFill>
                  <a:srgbClr val="FFFFFF"/>
                </a:solidFill>
                <a:latin typeface="Times New Roman"/>
                <a:ea typeface="Times New Roman"/>
                <a:cs typeface="Times New Roman"/>
                <a:sym typeface="Times New Roman"/>
              </a:rPr>
              <a:t>The system allows users to record house sales</a:t>
            </a:r>
            <a:endParaRPr sz="1400">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Char char="●"/>
            </a:pPr>
            <a:r>
              <a:rPr lang="en" sz="1400">
                <a:solidFill>
                  <a:srgbClr val="FFFFFF"/>
                </a:solidFill>
                <a:latin typeface="Times New Roman"/>
                <a:ea typeface="Times New Roman"/>
                <a:cs typeface="Times New Roman"/>
                <a:sym typeface="Times New Roman"/>
              </a:rPr>
              <a:t>The system allows users to input different business expenses related to house selling.</a:t>
            </a:r>
            <a:endParaRPr sz="1400">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Char char="●"/>
            </a:pPr>
            <a:r>
              <a:rPr lang="en" sz="1400">
                <a:solidFill>
                  <a:srgbClr val="FFFFFF"/>
                </a:solidFill>
                <a:latin typeface="Times New Roman"/>
                <a:ea typeface="Times New Roman"/>
                <a:cs typeface="Times New Roman"/>
                <a:sym typeface="Times New Roman"/>
              </a:rPr>
              <a:t>The system provides an automated summary that shows total sales, total expenses, and net profit.</a:t>
            </a:r>
            <a:endParaRPr sz="1400">
              <a:solidFill>
                <a:srgbClr val="FFFFFF"/>
              </a:solidFill>
              <a:latin typeface="Times New Roman"/>
              <a:ea typeface="Times New Roman"/>
              <a:cs typeface="Times New Roman"/>
              <a:sym typeface="Times New Roman"/>
            </a:endParaRPr>
          </a:p>
          <a:p>
            <a:pPr indent="-317500" lvl="0" marL="457200" rtl="0" algn="just">
              <a:spcBef>
                <a:spcPts val="0"/>
              </a:spcBef>
              <a:spcAft>
                <a:spcPts val="0"/>
              </a:spcAft>
              <a:buClr>
                <a:srgbClr val="FFFFFF"/>
              </a:buClr>
              <a:buSzPts val="1400"/>
              <a:buFont typeface="Times New Roman"/>
              <a:buChar char="●"/>
            </a:pPr>
            <a:r>
              <a:rPr lang="en" sz="1400">
                <a:solidFill>
                  <a:srgbClr val="FFFFFF"/>
                </a:solidFill>
                <a:latin typeface="Times New Roman"/>
                <a:ea typeface="Times New Roman"/>
                <a:cs typeface="Times New Roman"/>
                <a:sym typeface="Times New Roman"/>
              </a:rPr>
              <a:t>The system offers a simple and user friendly menu that guides users.</a:t>
            </a:r>
            <a:endParaRPr sz="1500">
              <a:latin typeface="Times New Roman"/>
              <a:ea typeface="Times New Roman"/>
              <a:cs typeface="Times New Roman"/>
              <a:sym typeface="Times New Roman"/>
            </a:endParaRPr>
          </a:p>
          <a:p>
            <a:pPr indent="0" lvl="0" marL="0" rtl="0" algn="l">
              <a:spcBef>
                <a:spcPts val="0"/>
              </a:spcBef>
              <a:spcAft>
                <a:spcPts val="1200"/>
              </a:spcAft>
              <a:buNone/>
            </a:pPr>
            <a:r>
              <a:t/>
            </a:r>
            <a:endParaRPr/>
          </a:p>
        </p:txBody>
      </p:sp>
      <p:sp>
        <p:nvSpPr>
          <p:cNvPr id="161" name="Google Shape;161;p17"/>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fontScale="32500"/>
          </a:bodyPr>
          <a:lstStyle/>
          <a:p>
            <a:pPr indent="0" lvl="0" marL="0" rtl="0" algn="l">
              <a:spcBef>
                <a:spcPts val="0"/>
              </a:spcBef>
              <a:spcAft>
                <a:spcPts val="0"/>
              </a:spcAft>
              <a:buNone/>
            </a:pPr>
            <a:r>
              <a:rPr lang="en" sz="3453">
                <a:latin typeface="Times New Roman"/>
                <a:ea typeface="Times New Roman"/>
                <a:cs typeface="Times New Roman"/>
                <a:sym typeface="Times New Roman"/>
              </a:rPr>
              <a:t>LIMITATION</a:t>
            </a:r>
            <a:endParaRPr sz="3453">
              <a:latin typeface="Times New Roman"/>
              <a:ea typeface="Times New Roman"/>
              <a:cs typeface="Times New Roman"/>
              <a:sym typeface="Times New Roman"/>
            </a:endParaRPr>
          </a:p>
          <a:p>
            <a:pPr indent="-313392" lvl="0" marL="457200" rtl="0" algn="just">
              <a:spcBef>
                <a:spcPts val="1200"/>
              </a:spcBef>
              <a:spcAft>
                <a:spcPts val="0"/>
              </a:spcAft>
              <a:buSzPct val="100000"/>
              <a:buFont typeface="Times New Roman"/>
              <a:buChar char="●"/>
            </a:pPr>
            <a:r>
              <a:rPr lang="en" sz="4108">
                <a:latin typeface="Times New Roman"/>
                <a:ea typeface="Times New Roman"/>
                <a:cs typeface="Times New Roman"/>
                <a:sym typeface="Times New Roman"/>
              </a:rPr>
              <a:t>Records are not saved permanently, all data is lost when the program closes.</a:t>
            </a:r>
            <a:endParaRPr sz="4108">
              <a:latin typeface="Times New Roman"/>
              <a:ea typeface="Times New Roman"/>
              <a:cs typeface="Times New Roman"/>
              <a:sym typeface="Times New Roman"/>
            </a:endParaRPr>
          </a:p>
          <a:p>
            <a:pPr indent="-313392" lvl="0" marL="457200" rtl="0" algn="just">
              <a:spcBef>
                <a:spcPts val="0"/>
              </a:spcBef>
              <a:spcAft>
                <a:spcPts val="0"/>
              </a:spcAft>
              <a:buSzPct val="100000"/>
              <a:buFont typeface="Times New Roman"/>
              <a:buChar char="●"/>
            </a:pPr>
            <a:r>
              <a:rPr lang="en" sz="4108">
                <a:latin typeface="Times New Roman"/>
                <a:ea typeface="Times New Roman"/>
                <a:cs typeface="Times New Roman"/>
                <a:sym typeface="Times New Roman"/>
              </a:rPr>
              <a:t>Users cannot edit or delete entries, so mistakes require restarting the program.</a:t>
            </a:r>
            <a:endParaRPr sz="4108">
              <a:latin typeface="Times New Roman"/>
              <a:ea typeface="Times New Roman"/>
              <a:cs typeface="Times New Roman"/>
              <a:sym typeface="Times New Roman"/>
            </a:endParaRPr>
          </a:p>
          <a:p>
            <a:pPr indent="-313392" lvl="0" marL="457200" rtl="0" algn="just">
              <a:spcBef>
                <a:spcPts val="0"/>
              </a:spcBef>
              <a:spcAft>
                <a:spcPts val="0"/>
              </a:spcAft>
              <a:buSzPct val="100000"/>
              <a:buFont typeface="Times New Roman"/>
              <a:buChar char="●"/>
            </a:pPr>
            <a:r>
              <a:rPr lang="en" sz="4108">
                <a:latin typeface="Times New Roman"/>
                <a:ea typeface="Times New Roman"/>
                <a:cs typeface="Times New Roman"/>
                <a:sym typeface="Times New Roman"/>
              </a:rPr>
              <a:t>No advanced features like data export, user accounts, or database storage.</a:t>
            </a:r>
            <a:endParaRPr sz="4108">
              <a:latin typeface="Times New Roman"/>
              <a:ea typeface="Times New Roman"/>
              <a:cs typeface="Times New Roman"/>
              <a:sym typeface="Times New Roman"/>
            </a:endParaRPr>
          </a:p>
          <a:p>
            <a:pPr indent="-313392" lvl="0" marL="457200" rtl="0" algn="just">
              <a:spcBef>
                <a:spcPts val="0"/>
              </a:spcBef>
              <a:spcAft>
                <a:spcPts val="0"/>
              </a:spcAft>
              <a:buSzPct val="100000"/>
              <a:buFont typeface="Times New Roman"/>
              <a:buChar char="●"/>
            </a:pPr>
            <a:r>
              <a:rPr lang="en" sz="4108">
                <a:latin typeface="Times New Roman"/>
                <a:ea typeface="Times New Roman"/>
                <a:cs typeface="Times New Roman"/>
                <a:sym typeface="Times New Roman"/>
              </a:rPr>
              <a:t>Only uses a console interface no graphical interface or mobile access.</a:t>
            </a:r>
            <a:endParaRPr sz="4108">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Times New Roman"/>
                <a:ea typeface="Times New Roman"/>
                <a:cs typeface="Times New Roman"/>
                <a:sym typeface="Times New Roman"/>
              </a:rPr>
              <a:t>Software Requirements</a:t>
            </a:r>
            <a:endParaRPr b="1">
              <a:latin typeface="Times New Roman"/>
              <a:ea typeface="Times New Roman"/>
              <a:cs typeface="Times New Roman"/>
              <a:sym typeface="Times New Roman"/>
            </a:endParaRPr>
          </a:p>
        </p:txBody>
      </p:sp>
      <p:sp>
        <p:nvSpPr>
          <p:cNvPr id="167" name="Google Shape;167;p18"/>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fontScale="55000"/>
          </a:bodyPr>
          <a:lstStyle/>
          <a:p>
            <a:pPr indent="0" lvl="0" marL="0" rtl="0" algn="l">
              <a:spcBef>
                <a:spcPts val="0"/>
              </a:spcBef>
              <a:spcAft>
                <a:spcPts val="0"/>
              </a:spcAft>
              <a:buNone/>
            </a:pPr>
            <a:r>
              <a:rPr lang="en" sz="2572">
                <a:latin typeface="Times New Roman"/>
                <a:ea typeface="Times New Roman"/>
                <a:cs typeface="Times New Roman"/>
                <a:sym typeface="Times New Roman"/>
              </a:rPr>
              <a:t>Hardware</a:t>
            </a:r>
            <a:endParaRPr sz="2572">
              <a:latin typeface="Times New Roman"/>
              <a:ea typeface="Times New Roman"/>
              <a:cs typeface="Times New Roman"/>
              <a:sym typeface="Times New Roman"/>
            </a:endParaRPr>
          </a:p>
          <a:p>
            <a:pPr indent="-321094" lvl="0" marL="457200" marR="28575" rtl="0" algn="just">
              <a:spcBef>
                <a:spcPts val="1200"/>
              </a:spcBef>
              <a:spcAft>
                <a:spcPts val="0"/>
              </a:spcAft>
              <a:buClr>
                <a:srgbClr val="FFFFFF"/>
              </a:buClr>
              <a:buSzPct val="100000"/>
              <a:buFont typeface="Times New Roman"/>
              <a:buChar char="●"/>
            </a:pPr>
            <a:r>
              <a:rPr lang="en" sz="2648">
                <a:solidFill>
                  <a:srgbClr val="FFFFFF"/>
                </a:solidFill>
                <a:latin typeface="Times New Roman"/>
                <a:ea typeface="Times New Roman"/>
                <a:cs typeface="Times New Roman"/>
                <a:sym typeface="Times New Roman"/>
              </a:rPr>
              <a:t>Processor: Intel Core i3</a:t>
            </a:r>
            <a:endParaRPr sz="2648">
              <a:solidFill>
                <a:srgbClr val="FFFFFF"/>
              </a:solidFill>
              <a:latin typeface="Times New Roman"/>
              <a:ea typeface="Times New Roman"/>
              <a:cs typeface="Times New Roman"/>
              <a:sym typeface="Times New Roman"/>
            </a:endParaRPr>
          </a:p>
          <a:p>
            <a:pPr indent="-321094" lvl="0" marL="457200" marR="28575" rtl="0" algn="just">
              <a:spcBef>
                <a:spcPts val="0"/>
              </a:spcBef>
              <a:spcAft>
                <a:spcPts val="0"/>
              </a:spcAft>
              <a:buClr>
                <a:srgbClr val="FFFFFF"/>
              </a:buClr>
              <a:buSzPct val="100000"/>
              <a:buFont typeface="Times New Roman"/>
              <a:buChar char="●"/>
            </a:pPr>
            <a:r>
              <a:rPr lang="en" sz="2648">
                <a:solidFill>
                  <a:srgbClr val="FFFFFF"/>
                </a:solidFill>
                <a:latin typeface="Times New Roman"/>
                <a:ea typeface="Times New Roman"/>
                <a:cs typeface="Times New Roman"/>
                <a:sym typeface="Times New Roman"/>
              </a:rPr>
              <a:t>Memory (RAM): 4GB</a:t>
            </a:r>
            <a:br>
              <a:rPr lang="en" sz="2648">
                <a:solidFill>
                  <a:srgbClr val="FFFFFF"/>
                </a:solidFill>
                <a:latin typeface="Times New Roman"/>
                <a:ea typeface="Times New Roman"/>
                <a:cs typeface="Times New Roman"/>
                <a:sym typeface="Times New Roman"/>
              </a:rPr>
            </a:br>
            <a:r>
              <a:rPr lang="en" sz="2648">
                <a:solidFill>
                  <a:srgbClr val="FFFFFF"/>
                </a:solidFill>
                <a:latin typeface="Times New Roman"/>
                <a:ea typeface="Times New Roman"/>
                <a:cs typeface="Times New Roman"/>
                <a:sym typeface="Times New Roman"/>
              </a:rPr>
              <a:t>Storage: 500MB of available storage</a:t>
            </a:r>
            <a:endParaRPr sz="2648">
              <a:solidFill>
                <a:srgbClr val="FFFFFF"/>
              </a:solidFill>
              <a:latin typeface="Times New Roman"/>
              <a:ea typeface="Times New Roman"/>
              <a:cs typeface="Times New Roman"/>
              <a:sym typeface="Times New Roman"/>
            </a:endParaRPr>
          </a:p>
          <a:p>
            <a:pPr indent="-321094" lvl="0" marL="457200" marR="28575" rtl="0" algn="just">
              <a:spcBef>
                <a:spcPts val="0"/>
              </a:spcBef>
              <a:spcAft>
                <a:spcPts val="0"/>
              </a:spcAft>
              <a:buClr>
                <a:srgbClr val="FFFFFF"/>
              </a:buClr>
              <a:buSzPct val="100000"/>
              <a:buFont typeface="Times New Roman"/>
              <a:buChar char="●"/>
            </a:pPr>
            <a:r>
              <a:rPr lang="en" sz="2648">
                <a:solidFill>
                  <a:srgbClr val="FFFFFF"/>
                </a:solidFill>
                <a:latin typeface="Times New Roman"/>
                <a:ea typeface="Times New Roman"/>
                <a:cs typeface="Times New Roman"/>
                <a:sym typeface="Times New Roman"/>
              </a:rPr>
              <a:t>Monitor: Any display that supports text output (console/terminal view)</a:t>
            </a:r>
            <a:endParaRPr sz="2648">
              <a:solidFill>
                <a:srgbClr val="FFFFFF"/>
              </a:solidFill>
              <a:latin typeface="Times New Roman"/>
              <a:ea typeface="Times New Roman"/>
              <a:cs typeface="Times New Roman"/>
              <a:sym typeface="Times New Roman"/>
            </a:endParaRPr>
          </a:p>
          <a:p>
            <a:pPr indent="-321094" lvl="0" marL="457200" marR="28575" rtl="0" algn="just">
              <a:spcBef>
                <a:spcPts val="0"/>
              </a:spcBef>
              <a:spcAft>
                <a:spcPts val="0"/>
              </a:spcAft>
              <a:buClr>
                <a:srgbClr val="FFFFFF"/>
              </a:buClr>
              <a:buSzPct val="100000"/>
              <a:buFont typeface="Times New Roman"/>
              <a:buChar char="●"/>
            </a:pPr>
            <a:r>
              <a:rPr lang="en" sz="2648">
                <a:solidFill>
                  <a:srgbClr val="FFFFFF"/>
                </a:solidFill>
                <a:latin typeface="Times New Roman"/>
                <a:ea typeface="Times New Roman"/>
                <a:cs typeface="Times New Roman"/>
                <a:sym typeface="Times New Roman"/>
              </a:rPr>
              <a:t>K</a:t>
            </a:r>
            <a:r>
              <a:rPr lang="en" sz="2648">
                <a:solidFill>
                  <a:srgbClr val="FFFFFF"/>
                </a:solidFill>
                <a:latin typeface="Times New Roman"/>
                <a:ea typeface="Times New Roman"/>
                <a:cs typeface="Times New Roman"/>
                <a:sym typeface="Times New Roman"/>
              </a:rPr>
              <a:t>eyboard: For typing sales, expenses, and menu choices</a:t>
            </a:r>
            <a:endParaRPr sz="2648">
              <a:solidFill>
                <a:srgbClr val="FFFFFF"/>
              </a:solidFill>
              <a:latin typeface="Times New Roman"/>
              <a:ea typeface="Times New Roman"/>
              <a:cs typeface="Times New Roman"/>
              <a:sym typeface="Times New Roman"/>
            </a:endParaRPr>
          </a:p>
          <a:p>
            <a:pPr indent="-321094" lvl="0" marL="457200" marR="28575" rtl="0" algn="just">
              <a:spcBef>
                <a:spcPts val="0"/>
              </a:spcBef>
              <a:spcAft>
                <a:spcPts val="0"/>
              </a:spcAft>
              <a:buClr>
                <a:srgbClr val="FFFFFF"/>
              </a:buClr>
              <a:buSzPct val="100000"/>
              <a:buFont typeface="Times New Roman"/>
              <a:buChar char="●"/>
            </a:pPr>
            <a:r>
              <a:rPr lang="en" sz="2648">
                <a:solidFill>
                  <a:srgbClr val="FFFFFF"/>
                </a:solidFill>
                <a:latin typeface="Times New Roman"/>
                <a:ea typeface="Times New Roman"/>
                <a:cs typeface="Times New Roman"/>
                <a:sym typeface="Times New Roman"/>
              </a:rPr>
              <a:t>Optional: Mouse</a:t>
            </a:r>
            <a:endParaRPr sz="2648">
              <a:solidFill>
                <a:srgbClr val="FFFFFF"/>
              </a:solidFill>
              <a:latin typeface="Times New Roman"/>
              <a:ea typeface="Times New Roman"/>
              <a:cs typeface="Times New Roman"/>
              <a:sym typeface="Times New Roman"/>
            </a:endParaRPr>
          </a:p>
          <a:p>
            <a:pPr indent="0" lvl="0" marL="0" rtl="0" algn="l">
              <a:spcBef>
                <a:spcPts val="1380"/>
              </a:spcBef>
              <a:spcAft>
                <a:spcPts val="1200"/>
              </a:spcAft>
              <a:buNone/>
            </a:pPr>
            <a:r>
              <a:t/>
            </a:r>
            <a:endParaRPr/>
          </a:p>
        </p:txBody>
      </p:sp>
      <p:sp>
        <p:nvSpPr>
          <p:cNvPr id="168" name="Google Shape;168;p18"/>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t>Software</a:t>
            </a:r>
            <a:endParaRPr/>
          </a:p>
          <a:p>
            <a:pPr indent="-326192" lvl="0" marL="457200" marR="28575" rtl="0" algn="l">
              <a:spcBef>
                <a:spcPts val="1200"/>
              </a:spcBef>
              <a:spcAft>
                <a:spcPts val="0"/>
              </a:spcAft>
              <a:buClr>
                <a:srgbClr val="FFFFFF"/>
              </a:buClr>
              <a:buSzPct val="100000"/>
              <a:buFont typeface="Times New Roman"/>
              <a:buChar char="●"/>
            </a:pPr>
            <a:r>
              <a:rPr lang="en" sz="1808">
                <a:solidFill>
                  <a:srgbClr val="FFFFFF"/>
                </a:solidFill>
                <a:latin typeface="Times New Roman"/>
                <a:ea typeface="Times New Roman"/>
                <a:cs typeface="Times New Roman"/>
                <a:sym typeface="Times New Roman"/>
              </a:rPr>
              <a:t>Operating System: Windows 10 or higher</a:t>
            </a:r>
            <a:endParaRPr sz="1808">
              <a:solidFill>
                <a:srgbClr val="FFFFFF"/>
              </a:solidFill>
              <a:latin typeface="Times New Roman"/>
              <a:ea typeface="Times New Roman"/>
              <a:cs typeface="Times New Roman"/>
              <a:sym typeface="Times New Roman"/>
            </a:endParaRPr>
          </a:p>
          <a:p>
            <a:pPr indent="-326192" lvl="0" marL="457200" marR="28575" rtl="0" algn="l">
              <a:spcBef>
                <a:spcPts val="0"/>
              </a:spcBef>
              <a:spcAft>
                <a:spcPts val="0"/>
              </a:spcAft>
              <a:buClr>
                <a:srgbClr val="FFFFFF"/>
              </a:buClr>
              <a:buSzPct val="100000"/>
              <a:buFont typeface="Times New Roman"/>
              <a:buChar char="●"/>
            </a:pPr>
            <a:r>
              <a:rPr lang="en" sz="1808">
                <a:solidFill>
                  <a:srgbClr val="FFFFFF"/>
                </a:solidFill>
                <a:latin typeface="Times New Roman"/>
                <a:ea typeface="Times New Roman"/>
                <a:cs typeface="Times New Roman"/>
                <a:sym typeface="Times New Roman"/>
              </a:rPr>
              <a:t>Programming Language: Python</a:t>
            </a:r>
            <a:endParaRPr sz="1808">
              <a:solidFill>
                <a:srgbClr val="FFFFFF"/>
              </a:solidFill>
              <a:latin typeface="Times New Roman"/>
              <a:ea typeface="Times New Roman"/>
              <a:cs typeface="Times New Roman"/>
              <a:sym typeface="Times New Roman"/>
            </a:endParaRPr>
          </a:p>
          <a:p>
            <a:pPr indent="-326192" lvl="0" marL="457200" marR="28575" rtl="0" algn="l">
              <a:spcBef>
                <a:spcPts val="0"/>
              </a:spcBef>
              <a:spcAft>
                <a:spcPts val="0"/>
              </a:spcAft>
              <a:buClr>
                <a:srgbClr val="FFFFFF"/>
              </a:buClr>
              <a:buSzPct val="100000"/>
              <a:buFont typeface="Times New Roman"/>
              <a:buChar char="●"/>
            </a:pPr>
            <a:r>
              <a:rPr lang="en" sz="1808">
                <a:solidFill>
                  <a:srgbClr val="FFFFFF"/>
                </a:solidFill>
                <a:latin typeface="Times New Roman"/>
                <a:ea typeface="Times New Roman"/>
                <a:cs typeface="Times New Roman"/>
                <a:sym typeface="Times New Roman"/>
              </a:rPr>
              <a:t>Code Editor: Visual Studio Code</a:t>
            </a:r>
            <a:endParaRPr sz="1808">
              <a:solidFill>
                <a:srgbClr val="FFFFFF"/>
              </a:solidFill>
              <a:latin typeface="Times New Roman"/>
              <a:ea typeface="Times New Roman"/>
              <a:cs typeface="Times New Roman"/>
              <a:sym typeface="Times New Roman"/>
            </a:endParaRPr>
          </a:p>
          <a:p>
            <a:pPr indent="-326192" lvl="0" marL="457200" marR="28575" rtl="0" algn="l">
              <a:spcBef>
                <a:spcPts val="0"/>
              </a:spcBef>
              <a:spcAft>
                <a:spcPts val="0"/>
              </a:spcAft>
              <a:buClr>
                <a:srgbClr val="FFFFFF"/>
              </a:buClr>
              <a:buSzPct val="100000"/>
              <a:buFont typeface="Times New Roman"/>
              <a:buChar char="●"/>
            </a:pPr>
            <a:r>
              <a:rPr lang="en" sz="1808">
                <a:solidFill>
                  <a:srgbClr val="FFFFFF"/>
                </a:solidFill>
                <a:latin typeface="Times New Roman"/>
                <a:ea typeface="Times New Roman"/>
                <a:cs typeface="Times New Roman"/>
                <a:sym typeface="Times New Roman"/>
              </a:rPr>
              <a:t>Console or Terminal: Command Prompt, PowerShell or terminal</a:t>
            </a:r>
            <a:endParaRPr sz="1808">
              <a:solidFill>
                <a:srgbClr val="FFFFFF"/>
              </a:solidFill>
              <a:latin typeface="Times New Roman"/>
              <a:ea typeface="Times New Roman"/>
              <a:cs typeface="Times New Roman"/>
              <a:sym typeface="Times New Roman"/>
            </a:endParaRPr>
          </a:p>
          <a:p>
            <a:pPr indent="0" lvl="0" marL="0" rtl="0" algn="l">
              <a:spcBef>
                <a:spcPts val="138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9"/>
          <p:cNvPicPr preferRelativeResize="0"/>
          <p:nvPr/>
        </p:nvPicPr>
        <p:blipFill>
          <a:blip r:embed="rId3">
            <a:alphaModFix/>
          </a:blip>
          <a:stretch>
            <a:fillRect/>
          </a:stretch>
        </p:blipFill>
        <p:spPr>
          <a:xfrm>
            <a:off x="1275525" y="572238"/>
            <a:ext cx="6592950" cy="3999024"/>
          </a:xfrm>
          <a:prstGeom prst="rect">
            <a:avLst/>
          </a:prstGeom>
          <a:noFill/>
          <a:ln>
            <a:noFill/>
          </a:ln>
        </p:spPr>
      </p:pic>
      <p:sp>
        <p:nvSpPr>
          <p:cNvPr id="174" name="Google Shape;174;p19"/>
          <p:cNvSpPr txBox="1"/>
          <p:nvPr/>
        </p:nvSpPr>
        <p:spPr>
          <a:xfrm>
            <a:off x="519550" y="77950"/>
            <a:ext cx="74814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500">
                <a:solidFill>
                  <a:schemeClr val="lt1"/>
                </a:solidFill>
                <a:latin typeface="Times New Roman"/>
                <a:ea typeface="Times New Roman"/>
                <a:cs typeface="Times New Roman"/>
                <a:sym typeface="Times New Roman"/>
              </a:rPr>
              <a:t>Flow Chart</a:t>
            </a:r>
            <a:endParaRPr b="1" sz="15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052550" y="2114700"/>
            <a:ext cx="7038900" cy="914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5000">
                <a:latin typeface="Times New Roman"/>
                <a:ea typeface="Times New Roman"/>
                <a:cs typeface="Times New Roman"/>
                <a:sym typeface="Times New Roman"/>
              </a:rPr>
              <a:t>THANK YOU!</a:t>
            </a:r>
            <a:endParaRPr b="1" sz="50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